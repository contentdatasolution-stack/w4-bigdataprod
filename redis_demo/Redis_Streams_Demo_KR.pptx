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교수자용 보조 덱. 본 강의 슬라이드 43(오늘 만든 부품의 진짜 이름) 바로 뒤에 이어서 쓴다. 학생 실습이 아니라 교수자가 한 단계씩 실행하며 보여 주는 시연이다. 슬라이드 2~5는 시연 방법, 6~17은 단계별 내용, 18~19는 정리.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시연 전에 이 표를 30초만 보여 준다. 개념을 다시 설명하지 않는다 — 슬라이드 33~43에서 이미 만들었다. '명령 이름이 낯설 뿐 부품은 같다'는 기대를 먼저 심는다. 빨간 줄(XPENDING)만 새것이라고 짚고 넘어간다. 예상 30초.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step0_server.sh 는 redis-server 를 포그라운드로 띄운다. 터미널 하나를 계속 차지하므로 터미널 1은 서버 전용으로 둔다. 'Address already in use' 가 나오면 이전 시연의 서버가 남아 있는 것: redis-cli -p 6390 shutdown nosave. 검증 환경: Redis 8.8.0, redis-py 8.1.0, macOS. 예상 1분(수업 전 준비).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터미널 글자 크기는 18pt 이상. 터미널 3과 4는 좌우로 나란히 — 그룹 B 를 켰을 때 A 화면이 변하지 않는다는 것, c2 를 붙였을 때 c1 의 '밀린 수'가 줄어든다는 것을 동시에 보여 줘야 한다. 시간이 모자라면 6단계의 ④⑤(느린 소비자)를 생략해도 흐름은 완결된다.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1~4단계만 Enter 방식이다. 5·6단계는 끝없이 도는 프로그램이라 Ctrl+C 로 끝낸다. ID(1789899575596-0)는 '밀리초 시각-순번'이라 실행할 때마다 다르다 — 슬라이드의 값과 달라도 정상. 터미널이 아닌 곳(파이프, 노트북)에서 실행하면 Enter 를 기다리지 않고 지나간다.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실행 검증: 2026-09-20, Redis 8.8.0. ID 값은 실행 시각에 따라 달라진다. 세 건이 같은 밀리초에 들어가서 순번(-0, -1, -2)만 다른 것을 짚어 주면 'ID 가 시각-순번'이라는 것이 바로 보인다. 예상 1분.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슬라이드 26~28 의 1회차·2회차·3회차와 같은 모습이라는 것을 말로 연결한다. 3회차 0건은 오류가 아니라 정상. XLEN 이 여전히 3 이라는 것이 queue.Queue 와의 차이(슬라이드 39). 예상 1분.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기대 답: 위치(노란 ID)를 내가 말해 줄 필요가 없어진다. 그 자리에 '&gt;' 한 글자가 온다 — '이 그룹이 아직 안 받아 간 것부터'. 흔한 오답: '그룹 이름이 위치를 대신한다' → 절반만 맞다. 그룹 이름은 '누구의 위치인지'를 말하고, '&gt;' 가 '그 위치 다음부터'를 말한다. 답은 말하지 말고 바로 3단계를 실행해서 화면으로 보여 준다. 예상 1분.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본 강의 슬라이드 39 를 옆에 띄워 놓으면 좋다. 같은 데이터(v41, v42, v43), 같은 순서다. XGROUP CREATE 의 마지막 0 은 '장부의 맨 처음부터 읽는 그룹'이라는 뜻. c1 은 그룹 안의 소비자 이름 — 6단계 ⑤에서 c2 를 붙일 때 의미가 생긴다. 지금은 넘어간다. 예상 1분.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그룹 C 가 공짜인 이유를 되묻는다: 장부는 읽어도 줄지 않고, '읽었다'는 기록은 그룹 쪽에만 있다. 생산자·장부·A·B 어느 것도 고치지 않았다. 마지막 표의 ACK 대기 열을 손으로 가리키며 다음 질문 슬라이드로 넘어간다. 실제 화면에서는 C 의 4건이 ID 와 함께 네 줄로 나온다(슬라이드에서는 한 줄로 줄였다). 예상 1분 30초.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기대 답: '&gt;' 로 읽으면 안 온다. 그런데 Redis 는 A 가 받아 가고 '끝냈다'고 보고하지 않은 것을 따로 적어 두고 있어서, '0' 으로 읽으면 다시 온다. 핵심은 '받아 갔다'와 '처리를 끝냈다'가 다른 사건이라는 것. 본 강의 슬라이드 41 의 m2 와 같은 상황이다. 손을 들게 한 뒤 답을 말하지 말고 4단계를 실행한다. 예상 1분.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슬라이드에서는 ID 앞부분(1789899575)을 … 으로 줄였다. 실제 화면에는 전체 ID 가 나온다. XACK 의 답 1 은 '1건이 대기 목록에서 빠졌다'는 뜻. 첫 번째 것만 ACK 하는 이유: 나머지 둘을 '처리하다 죽은 것'으로 쓰기 위해서다. 예상 1분.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본 강의 슬라이드 41 의 색과 맞췄다: 노란 쪽이 중복, 붉은 쪽이 유실. '0' 은 '새 메시지 말고 내 ACK 대기분부터'라는 뜻이다. 실무 기본값은 왼쪽(처리 후 ACK) + 두 번 처리해도 괜찮게 만들기. 되물을 것: '전달 횟수 2 인 메시지를 받으면 소비자는 무엇을 해야 하나?' → 이미 처리했는지 확인하거나(sequential_id), 같은 id 면 덮어쓰게 만든다. step4 는 이 뒤에 두 건을 XACK 해서 대기 목록을 비운다. 예상 2분.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실행 검증: 2026-09-20 실제 업비트 체결. 건수는 장 상황에 따라 다르다(검증 시 분당 약 130건의 한산한 장). 되물을 것: '소비자가 maxlen 보다 더 오래 밀리면?' → 못 읽은 채 사라진다. 완충 지대에도 한도가 있다(슬라이드 32: 쌓이거나, 버리거나, 멈추거나). 값은 전부 문자열로 저장된다 — 6단계에서 float() 로 바꾸는 이유. 예상 1분 30초.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출력 한 줄의 구성: [새 것/재처리] 건수 · 밀린 수(lag) · ACK 대기(pending) · 종목별 체결 수/체결 금액. 첫 줄 25건은 생산자를 먼저 켜 둔 동안 쌓인 것을 한 번에 따라잡은 것이고, 그 뒤로는 1초치씩 새로 온 것만 받는다. block=2000 은 새 메시지가 없으면 2초까지 기다린다는 뜻 — 파일 버전의 time.sleep(0.2) 폴링을 서버가 대신해 준다. 예상 1분.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실행 검증: 2026-09-20. ③: --crash 는 한 묶음을 처리하고 ACK 직전에 exit(1). 다시 켜면 '0' 으로 먼저 읽어 같은 4건이 [재처리] 로 온다. ④: --slow 는 5건씩 받고 묶음마다 3초+1초 = 초당 1.25건. 한산한 장(초당 2~3건)에서도 밀리도록 맞췄다. 장이 뜨거우면 훨씬 빨리 는다. --slow 를 Ctrl+C 로 죽이면 처리 중이던 5건이 ACK 대기로 남는다 — 이것도 자연스러운 크래시 시연이 된다. ⑤: c2 는 보통 속도라 밀린 것을 바로 가져간다. 예상 4분.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m1~m4 의 나뉘는 방식(번갈아)은 그림을 위한 단순화다. 실제로는 먼저 요청한 소비자가 가져간다. 핵심은 '같은 그룹 안에서는 한 메시지가 한 소비자에게만 간다'는 것. 파티션은 이름만 예고하고 설명하지 않는다 — 6~7주차 범위. 예상 1분.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본 강의 슬라이드 43 의 표를 다시 설명하지 않는다. 가운데 열만 새로 추가된 것이다. 도구가 바뀌어도 왼쪽 열(부품)은 그대로라는 것이 요점. Kafka 열은 이름만 — 6~7주차에서 직접 돌려 본다. 예상 1분.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자세한 대본과 되물을 질문은 instructor/redis_demo/README.md 에 있다. 검증 환경: macOS, Redis 8.8.0, redis-py 8.1.0, Python 3.11, 2026-09-20 실제 업비트 체결 데이터.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691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C4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BIG DATA FUNDAMENTALS  ·  LECTURE 4  ·  시연 보조 자료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1031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Redis Streams 시연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918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DE3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파이썬으로 만든 부품을 진짜 제품에서 다시 본다  ·  단계 0 → 9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8978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C4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12분  ·  본 강의 슬라이드 43 직후  ·  instructor/redis_demo/  ·  준비물: brew install redis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BIG IDEA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 다섯 개는 오늘 만든 부품의 다른 이름이다 — 새것은 하나뿐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91440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49040"/>
                <a:gridCol w="2926080"/>
                <a:gridCol w="17373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 만든 부품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 짠 코드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Redis 명령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시연 단계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장부에 덧붙이기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log.append(msg)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XADD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 · 5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위치를 내가 기억하며 읽기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f.seek(pos) … f.tell()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XREAD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그룹마다 자기 위치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offsets = {"A": 0, "B": 0}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XREADGROUP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 · 6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'후'에 위치 기록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POS_FILE.write_text(str(pos))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XACK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 · 6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밀린 양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size - pos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XINFO GROUPS → lag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 · 6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83B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받아 갔지만 아직 못 끝낸 것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E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B83B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(없었다 — 보이지 않던 상태)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E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B83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XPENDING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E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83B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   NEW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ED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개념은 이미 다 만들었습니다. 새로 보는 것은 '읽는 중'이라는 상태가 제품에서는 목록으로 보인다는 것 하나입니다.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방법 ①  ·  준비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준비는 다섯 줄 — 시연 전용 서버는 끄면 아무것도 남지 않는다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6949440" cy="3017520"/>
          </a:xfrm>
          <a:prstGeom prst="roundRect">
            <a:avLst>
              <a:gd name="adj" fmla="val 181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54480"/>
            <a:ext cx="6583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한 번만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brew install redis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.venv/bin/activate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instructor/redis_demo/requirements.txt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시연 때마다 — 터미널 1 (켜 둔다, 끄려면 Ctrl+C)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instructor/redis_demo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 step0_server.sh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Ready to accept connections tcp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확인 — 다른 터미널에서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redis-cli -p 6390 ping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680960" y="1417320"/>
            <a:ext cx="4023360" cy="868680"/>
          </a:xfrm>
          <a:prstGeom prst="roundRect">
            <a:avLst>
              <a:gd name="adj" fmla="val 6316"/>
            </a:avLst>
          </a:prstGeom>
          <a:solidFill>
            <a:srgbClr val="F1F4F9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63840" y="152704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 6390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1892808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포트(6379)의 다른 Redis 와 안 섞인다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680960" y="2377440"/>
            <a:ext cx="4023360" cy="868680"/>
          </a:xfrm>
          <a:prstGeom prst="roundRect">
            <a:avLst>
              <a:gd name="adj" fmla="val 6316"/>
            </a:avLst>
          </a:prstGeom>
          <a:solidFill>
            <a:srgbClr val="F1F4F9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0" y="248716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전용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2852928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디스크에 쓰지 않는다 — 끄면 전부 사라진다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680960" y="3337560"/>
            <a:ext cx="4023360" cy="1097280"/>
          </a:xfrm>
          <a:prstGeom prst="roundRect">
            <a:avLst>
              <a:gd name="adj" fmla="val 5000"/>
            </a:avLst>
          </a:prstGeom>
          <a:solidFill>
            <a:srgbClr val="F1F4F9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63840" y="344728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step0 의 실제 내용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863840" y="3813048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redis-server --port 6390 \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--save "" --appendonly no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617720"/>
            <a:ext cx="11247120" cy="1143000"/>
          </a:xfrm>
          <a:prstGeom prst="roundRect">
            <a:avLst>
              <a:gd name="adj" fmla="val 4800"/>
            </a:avLst>
          </a:prstGeom>
          <a:solidFill>
            <a:srgbClr val="E6EAF3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472744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전 리허설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093208"/>
            <a:ext cx="108813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단계에 --auto 를 붙여 끝까지 한 번 돌려 본다 (python step1_append.py --auto). 5·6단계는 업비트 웹소켓에 접속하므로 강의실 네트워크에서 미리 확인한다. 장이 한산하면 숫자가 작게 나오지만 흐름은 같다.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서버를 끄는 순간 장부·그룹·위치가 전부 사라집니다 — 치울 것이 없고, 다음 시연은 항상 빈 상태에서 시작합니다.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방법 ②  ·  터미널 배치와 시간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 네 개, 12분 — 장난감 데이터 6분, 진짜 데이터 6분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97480" cy="3063240"/>
          </a:xfrm>
          <a:prstGeom prst="roundRect">
            <a:avLst>
              <a:gd name="adj" fmla="val 2034"/>
            </a:avLst>
          </a:prstGeom>
          <a:solidFill>
            <a:srgbClr val="F1F4F9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508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3B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 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783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2240280"/>
            <a:ext cx="2423160" cy="1097280"/>
          </a:xfrm>
          <a:prstGeom prst="roundRect">
            <a:avLst>
              <a:gd name="adj" fmla="val 416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304288"/>
            <a:ext cx="22860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 step0_server.sh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3456432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처음부터 끝까지 켜 둔다. 화면은 볼 일이 없다 — 최소화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417320"/>
            <a:ext cx="2697480" cy="3063240"/>
          </a:xfrm>
          <a:prstGeom prst="roundRect">
            <a:avLst>
              <a:gd name="adj" fmla="val 2034"/>
            </a:avLst>
          </a:prstGeom>
          <a:solidFill>
            <a:srgbClr val="F1F4F9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56432" y="1508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3B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 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456432" y="1783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1 → 4, 그다음 생산자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429000" y="2240280"/>
            <a:ext cx="2423160" cy="1097280"/>
          </a:xfrm>
          <a:prstGeom prst="roundRect">
            <a:avLst>
              <a:gd name="adj" fmla="val 416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20440" y="2304288"/>
            <a:ext cx="22860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step1_append.py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step5_upbit_producer.py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3456432" y="3456432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크게 띄운다. 1~4단계가 끝나면 생산자를 켜 두고 그대로 둔다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1417320"/>
            <a:ext cx="2697480" cy="3063240"/>
          </a:xfrm>
          <a:prstGeom prst="roundRect">
            <a:avLst>
              <a:gd name="adj" fmla="val 2034"/>
            </a:avLst>
          </a:prstGeom>
          <a:solidFill>
            <a:srgbClr val="F1F4F9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91072" y="1508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3B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 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291072" y="1783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소비자 A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63640" y="2240280"/>
            <a:ext cx="2423160" cy="1097280"/>
          </a:xfrm>
          <a:prstGeom prst="roundRect">
            <a:avLst>
              <a:gd name="adj" fmla="val 416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55080" y="2304288"/>
            <a:ext cx="22860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step6_upbit_consumer.py 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 A c1 --crash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 A c1 --slow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291072" y="3456432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죽였다 살리기 · 크래시 · 느린 소비자를 모두 여기서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961120" y="1417320"/>
            <a:ext cx="2697480" cy="3063240"/>
          </a:xfrm>
          <a:prstGeom prst="roundRect">
            <a:avLst>
              <a:gd name="adj" fmla="val 2034"/>
            </a:avLst>
          </a:prstGeom>
          <a:solidFill>
            <a:srgbClr val="F1F4F9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25712" y="1508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3B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 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125712" y="1783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B, 그다음 A 의 c2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098280" y="2240280"/>
            <a:ext cx="2423160" cy="1097280"/>
          </a:xfrm>
          <a:prstGeom prst="roundRect">
            <a:avLst>
              <a:gd name="adj" fmla="val 416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89720" y="2304288"/>
            <a:ext cx="22860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step6_upbit_consumer.py 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 A c2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9125712" y="3456432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 3 옆에 나란히 — 두 화면을 동시에 봐야 한다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846320"/>
            <a:ext cx="1088136" cy="502920"/>
          </a:xfrm>
          <a:prstGeom prst="rect">
            <a:avLst/>
          </a:prstGeom>
          <a:solidFill>
            <a:srgbClr val="1E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7200" y="4846320"/>
            <a:ext cx="1088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XADD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1581912" y="4846320"/>
            <a:ext cx="1088136" cy="502920"/>
          </a:xfrm>
          <a:prstGeom prst="rect">
            <a:avLst/>
          </a:prstGeom>
          <a:solidFill>
            <a:srgbClr val="1E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581912" y="4846320"/>
            <a:ext cx="1088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XREAD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2706624" y="4846320"/>
            <a:ext cx="1837944" cy="502920"/>
          </a:xfrm>
          <a:prstGeom prst="rect">
            <a:avLst/>
          </a:prstGeom>
          <a:solidFill>
            <a:srgbClr val="1E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706624" y="484632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그룹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581144" y="4846320"/>
            <a:ext cx="1463040" cy="502920"/>
          </a:xfrm>
          <a:prstGeom prst="rect">
            <a:avLst/>
          </a:prstGeom>
          <a:solidFill>
            <a:srgbClr val="1E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81144" y="48463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ACK 대기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080760" y="4846320"/>
            <a:ext cx="1369314" cy="502920"/>
          </a:xfrm>
          <a:prstGeom prst="rect">
            <a:avLst/>
          </a:prstGeom>
          <a:solidFill>
            <a:srgbClr val="3B4F7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080760" y="4846320"/>
            <a:ext cx="13693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생산자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7486650" y="4846320"/>
            <a:ext cx="3712464" cy="502920"/>
          </a:xfrm>
          <a:prstGeom prst="rect">
            <a:avLst/>
          </a:prstGeom>
          <a:solidFill>
            <a:srgbClr val="3B4F7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486650" y="4846320"/>
            <a:ext cx="3712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소비자 시나리오 ①~⑤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11235690" y="4846320"/>
            <a:ext cx="432054" cy="502920"/>
          </a:xfrm>
          <a:prstGeom prst="rect">
            <a:avLst/>
          </a:prstGeom>
          <a:solidFill>
            <a:srgbClr val="9CA3A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1235690" y="4846320"/>
            <a:ext cx="4320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5394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0분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4709160" y="5394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6분 — 여기서 진짜 데이터로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10789920" y="5394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12분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앞의 6분은 v41·v42·v43 세 건으로 부품을 하나씩, 뒤의 6분은 같은 부품을 실제 체결 데이터로 봅니다.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방법 ③  ·  화면 읽는 법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Enter 한 번에 한 걸음 — redis&gt; 줄은 직접 쳐도 되는 명령이다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6400800" cy="2377440"/>
          </a:xfrm>
          <a:prstGeom prst="roundRect">
            <a:avLst>
              <a:gd name="adj" fmla="val 230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54480"/>
            <a:ext cx="6035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redis&gt;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XADD views * name v41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1789899575596-0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# 'v41' 은 메시지 내용, ID 는 장부에서의 자리 번호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[Enter]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redis&gt;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XADD views * name v42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1789899575596-1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03720" y="1667828"/>
            <a:ext cx="411480" cy="0"/>
          </a:xfrm>
          <a:prstGeom prst="line">
            <a:avLst/>
          </a:prstGeom>
          <a:noFill/>
          <a:ln w="19050">
            <a:solidFill>
              <a:srgbClr val="B83B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06640" y="155810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3B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실행한 명령 — redis-cli 에 그대로 쳐도 된다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03720" y="1894523"/>
            <a:ext cx="411480" cy="0"/>
          </a:xfrm>
          <a:prstGeom prst="line">
            <a:avLst/>
          </a:prstGeom>
          <a:noFill/>
          <a:ln w="19050">
            <a:solidFill>
              <a:srgbClr val="B83B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06640" y="1784794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3B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서버의 답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903720" y="2121218"/>
            <a:ext cx="411480" cy="0"/>
          </a:xfrm>
          <a:prstGeom prst="line">
            <a:avLst/>
          </a:prstGeom>
          <a:noFill/>
          <a:ln w="19050">
            <a:solidFill>
              <a:srgbClr val="B83B3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06640" y="201149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3B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설명할 말 (대본)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03720" y="2347912"/>
            <a:ext cx="411480" cy="0"/>
          </a:xfrm>
          <a:prstGeom prst="line">
            <a:avLst/>
          </a:prstGeom>
          <a:noFill/>
          <a:ln w="19050">
            <a:solidFill>
              <a:srgbClr val="B83B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06640" y="2238184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3B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Enter 를 기다린다 — 여기서 설명한다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023360"/>
            <a:ext cx="3611880" cy="1691640"/>
          </a:xfrm>
          <a:prstGeom prst="roundRect">
            <a:avLst>
              <a:gd name="adj" fmla="val 3243"/>
            </a:avLst>
          </a:prstGeom>
          <a:solidFill>
            <a:srgbClr val="F1F4F9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413308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--auto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498848"/>
            <a:ext cx="324612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멈추지 않고 끝까지 간다. 리허설, 또는 결과만 빨리 보여 줄 때.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step3_groups.py --auto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274820" y="4023360"/>
            <a:ext cx="3611880" cy="1691640"/>
          </a:xfrm>
          <a:prstGeom prst="roundRect">
            <a:avLst>
              <a:gd name="adj" fmla="val 3243"/>
            </a:avLst>
          </a:prstGeom>
          <a:solidFill>
            <a:srgbClr val="F1F4F9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57700" y="413308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쳐 보이기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457700" y="4498848"/>
            <a:ext cx="324612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redis-cli -p 6390 으로 들어가 화면의 redis&gt; 줄을 그대로 친다. 학생이 "정말 저 명령이 맞나" 의심할 때.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092440" y="4023360"/>
            <a:ext cx="3611880" cy="1691640"/>
          </a:xfrm>
          <a:prstGeom prst="roundRect">
            <a:avLst>
              <a:gd name="adj" fmla="val 3243"/>
            </a:avLst>
          </a:prstGeom>
          <a:solidFill>
            <a:srgbClr val="E6EAF3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75320" y="413308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꼬이면 1단계부터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275320" y="4498848"/>
            <a:ext cx="324612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step1 이 장부 views 를 지우고 새로 만든다. 3단계도 그룹을 다시 만든다 → 몇 번을 돌려도 같은 결과.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1~4단계는 '명령 → 답 → 설명할 말' 세 줄이 한 묶음입니다. Enter 를 누르기 전에 다음 답을 학생에게 먼저 물어보세요.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 ·  step1_append.py  ·  본 강의 슬라이드 34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XADD — 맨 뒤에 덧붙이기만 한다, 돌아온 ID 가 자리 번호다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6766560" cy="4297680"/>
          </a:xfrm>
          <a:prstGeom prst="roundRect">
            <a:avLst>
              <a:gd name="adj" fmla="val 127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54480"/>
            <a:ext cx="6400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step1_append.py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redis&gt;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 views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redis&gt;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XADD views * name v41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1789899575596-0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redis&gt;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XADD views * name v42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1789899575596-1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redis&gt;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XADD views * name v43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1789899575596-2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redis&gt;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XLEN views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3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redis&gt;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XRANGE views - +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1789899575596-0   name=v41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1789899575596-1   name=v42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1789899575596-2   name=v43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498080" y="1417320"/>
            <a:ext cx="4206240" cy="1325880"/>
          </a:xfrm>
          <a:prstGeom prst="roundRect">
            <a:avLst>
              <a:gd name="adj" fmla="val 4138"/>
            </a:avLst>
          </a:prstGeom>
          <a:solidFill>
            <a:srgbClr val="F1F4F9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0" y="15270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짚을 곳 — 노란 줄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680960" y="1892808"/>
            <a:ext cx="38404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 = 밀리초 시각-순번. 항상 커지기만 한다 → 슬라이드 34 의 자리 번호 0, 1, 2… 와 같은 역할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498080" y="2880360"/>
            <a:ext cx="4206240" cy="1325880"/>
          </a:xfrm>
          <a:prstGeom prst="roundRect">
            <a:avLst>
              <a:gd name="adj" fmla="val 4138"/>
            </a:avLst>
          </a:prstGeom>
          <a:solidFill>
            <a:srgbClr val="F1F4F9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80960" y="2990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말할 것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0" y="3355848"/>
            <a:ext cx="38404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중간에 끼우는 명령도, 고치는 명령도 없다. * 는 "ID 는 서버가 정해라"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498080" y="4343400"/>
            <a:ext cx="4206240" cy="1371600"/>
          </a:xfrm>
          <a:prstGeom prst="roundRect">
            <a:avLst>
              <a:gd name="adj" fmla="val 4000"/>
            </a:avLst>
          </a:prstGeom>
          <a:solidFill>
            <a:srgbClr val="E6EAF3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80960" y="445312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되물을 것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0" y="4818888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"생산자는 누가 읽는지 아나요?" → 모른다. XADD 에는 읽는 쪽에 대한 정보가 한 글자도 없다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직접 만든 코드의 log.append(msg) 한 줄이 XADD 입니다 — v41 은 내용이고, 위치는 ID 입니다.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  ·  step2_position.py  ·  본 강의 슬라이드 25~28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XREAD — 위치를 내가 든다: 2건 → 1건 → 0건, 장부는 그대로 3건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6766560" cy="3657600"/>
          </a:xfrm>
          <a:prstGeom prst="roundRect">
            <a:avLst>
              <a:gd name="adj" fmla="val 15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54480"/>
            <a:ext cx="6400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redis&gt;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XREAD COUNT 2 STREAMS views 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1789899575596-0   name=v41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1789899575596-1   name=v42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redis&gt;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XREAD COUNT 2 STREAMS views 1789899575596-1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1789899575596-2   name=v43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redis&gt;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XREAD COUNT 2 STREAMS views 1789899575596-2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(없음)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redis&gt;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XLEN views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3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498080" y="14173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추적 — 내 변수 pos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737360"/>
          <a:ext cx="91440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371600"/>
                <a:gridCol w="20116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받은 것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읽은 뒤 pos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시작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v41, v42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…596-1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v43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…596-2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…596-2 (그대로)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498080" y="4069080"/>
            <a:ext cx="4206240" cy="1005840"/>
          </a:xfrm>
          <a:prstGeom prst="roundRect">
            <a:avLst>
              <a:gd name="adj" fmla="val 5455"/>
            </a:avLst>
          </a:prstGeom>
          <a:solidFill>
            <a:srgbClr val="F1F4F9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680960" y="417880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명령의 마지막 인자가 위치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680960" y="454456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ID 다음부터 달라" — 위치를 말해 주는 것은 읽는 쪽이다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57200" y="5212080"/>
            <a:ext cx="11247120" cy="566928"/>
          </a:xfrm>
          <a:prstGeom prst="roundRect">
            <a:avLst>
              <a:gd name="adj" fmla="val 9677"/>
            </a:avLst>
          </a:prstGeom>
          <a:solidFill>
            <a:srgbClr val="E6EAF3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532180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프로그램이 죽으면 pos 도 사라진다 → 그래서 my_consumer.py 는 state/my_pos.txt 에 적었다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my_consumer.py 와 같은 구조입니다 — 바이트 위치 대신 '마지막으로 읽은 ID'를 들고 있을 뿐입니다.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 → 3단계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548640" cy="548640"/>
          </a:xfrm>
          <a:prstGeom prst="ellipse">
            <a:avLst/>
          </a:prstGeom>
          <a:solidFill>
            <a:srgbClr val="B83B3B"/>
          </a:solidFill>
          <a:ln w="12700">
            <a:solidFill>
              <a:srgbClr val="B83B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868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8961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3B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생각해 보기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위치를 Redis 에게 맡기면, 읽기 명령에서 무엇이 사라질까요?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43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— 위치를 내가 든다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0632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XREAD COUNT 2 STREAMS views </a:t>
            </a:r>
            <a:pPr indent="0" marL="0">
              <a:buNone/>
            </a:pPr>
            <a:r>
              <a:rPr lang="en-US" sz="1700" b="1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1789899575596-1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023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— 그룹 A 의 위치를 Redis 가 든다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34340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34340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XREADGROUP GROUP A c1 COUNT 2 STREAMS views </a:t>
            </a:r>
            <a:pPr indent="0" marL="0">
              <a:buNone/>
            </a:pPr>
            <a:r>
              <a:rPr lang="en-US" sz="17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?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394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옆 사람과 30초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24712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  ·  step3_groups.py (앞부분)  ·  본 강의 슬라이드 39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XREADGROUP — A 가 2건 읽으면 A 의 위치만 움직인다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6949440" cy="4343400"/>
          </a:xfrm>
          <a:prstGeom prst="roundRect">
            <a:avLst>
              <a:gd name="adj" fmla="val 126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54480"/>
            <a:ext cx="658368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redis&gt;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XGROUP CREATE views A 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redis&gt;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XGROUP CREATE views B 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redis&gt;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XREADGROUP GROUP A c1 COUNT 2 STREAMS views 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1789899575596-0   name=v41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1789899575596-1   name=v42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redis&gt;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XINFO GROUPS views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그룹  last-delivered-id   읽은 수  밀린 수  ACK 대기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     1789899575596-1          2        1         2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     0-0                      0        3         0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26680" y="15910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장부 views (덧붙이기만)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26680" y="1920240"/>
            <a:ext cx="841248" cy="566928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26680" y="1920240"/>
            <a:ext cx="841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v41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26680" y="251460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641080" y="1920240"/>
            <a:ext cx="841248" cy="566928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41080" y="1920240"/>
            <a:ext cx="841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v42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641080" y="251460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555480" y="1920240"/>
            <a:ext cx="841248" cy="566928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555480" y="1920240"/>
            <a:ext cx="841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v43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555480" y="251460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469880" y="1920240"/>
            <a:ext cx="84124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5CBD6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10469880" y="251460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518904" y="2743200"/>
            <a:ext cx="0" cy="384048"/>
          </a:xfrm>
          <a:prstGeom prst="line">
            <a:avLst/>
          </a:prstGeom>
          <a:noFill/>
          <a:ln w="28575">
            <a:solidFill>
              <a:srgbClr val="B83B3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592056" y="28895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3B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위치 — 2건 읽음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690104" y="2743200"/>
            <a:ext cx="0" cy="841248"/>
          </a:xfrm>
          <a:prstGeom prst="line">
            <a:avLst/>
          </a:prstGeom>
          <a:noFill/>
          <a:ln w="28575">
            <a:solidFill>
              <a:srgbClr val="2E7D5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63256" y="33467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위치 — 0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726680" y="3977640"/>
            <a:ext cx="3977640" cy="1783080"/>
          </a:xfrm>
          <a:prstGeom prst="roundRect">
            <a:avLst>
              <a:gd name="adj" fmla="val 3077"/>
            </a:avLst>
          </a:prstGeom>
          <a:solidFill>
            <a:srgbClr val="F1F4F9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909560" y="4087368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'&gt;' 한 글자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909560" y="4453128"/>
            <a:ext cx="36118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그룹이 아직 안 받아 간 것부터". 위치는 Redis 가 그룹 이름별로 들고 있다 — offsets = {"A": 2, "B": 0} 와 같은 표가 서버 안에 있다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움직인 것은 A 의 위치뿐입니다. B 도, 장부도 그대로 — 본 강의 슬라이드 39 의 출력과 한 줄씩 대조해 보세요.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  ·  step3_groups.py (뒷부분)  ·  본 강의 슬라이드 35 · 40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는 처음부터, A 는 이어서, 내일 온 C 는 전부 읽는다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6949440" cy="4343400"/>
          </a:xfrm>
          <a:prstGeom prst="roundRect">
            <a:avLst>
              <a:gd name="adj" fmla="val 126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54480"/>
            <a:ext cx="658368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redis&gt;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XREADGROUP GROUP B c1 COUNT 1 STREAMS views 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1789899575596-0   name=v41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redis&gt;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XREADGROUP GROUP A c1 COUNT 2 STREAMS views 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1789899575596-2   name=v43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redis&gt;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XADD views * name v44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redis&gt;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XGROUP CREATE views C 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redis&gt;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XREADGROUP GROUP C c1 COUNT 10 STREAMS views 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… v41  v42  v43  v44  (4건 전부)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redis&gt;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XINFO GROUPS views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그룹  last-delivered-id   읽은 수  밀린 수  ACK 대기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     1789899575596-2          3        1         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     1789899575596-0          1        3        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     1789899575785-0          4        0         4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26680" y="15910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장부 views (덧붙이기만)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26680" y="1920240"/>
            <a:ext cx="841248" cy="566928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26680" y="1920240"/>
            <a:ext cx="841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v41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26680" y="251460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641080" y="1920240"/>
            <a:ext cx="841248" cy="566928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41080" y="1920240"/>
            <a:ext cx="841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v42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641080" y="251460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555480" y="1920240"/>
            <a:ext cx="841248" cy="566928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555480" y="1920240"/>
            <a:ext cx="841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v43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555480" y="251460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469880" y="1920240"/>
            <a:ext cx="841248" cy="566928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469880" y="1920240"/>
            <a:ext cx="841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v44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469880" y="251460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433304" y="2743200"/>
            <a:ext cx="0" cy="384048"/>
          </a:xfrm>
          <a:prstGeom prst="line">
            <a:avLst/>
          </a:prstGeom>
          <a:noFill/>
          <a:ln w="28575">
            <a:solidFill>
              <a:srgbClr val="B83B3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506456" y="28895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3B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위치 3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604504" y="2743200"/>
            <a:ext cx="0" cy="841248"/>
          </a:xfrm>
          <a:prstGeom prst="line">
            <a:avLst/>
          </a:prstGeom>
          <a:noFill/>
          <a:ln w="28575">
            <a:solidFill>
              <a:srgbClr val="2E7D5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77656" y="33467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위치 1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726680" y="37033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위치 4 — 방금 와서 전부 읽음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726680" y="4114800"/>
            <a:ext cx="3977640" cy="1645920"/>
          </a:xfrm>
          <a:prstGeom prst="roundRect">
            <a:avLst>
              <a:gd name="adj" fmla="val 3333"/>
            </a:avLst>
          </a:prstGeom>
          <a:solidFill>
            <a:srgbClr val="E6EAF3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909560" y="4224528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v44 가 들어오자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909560" y="4590288"/>
            <a:ext cx="36118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와 B 의 '밀린 수'가 같이 1 늘었다. 밀린 수 = 장부 끝 - 그룹 위치 (my_consumer.py 의 '밀린 양')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맨 오른쪽 'ACK 대기' 열을 기억해 두세요. A 는 3건을 읽었는데 3건이 전부 '대기'입니다.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 → 4단계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548640" cy="548640"/>
          </a:xfrm>
          <a:prstGeom prst="ellipse">
            <a:avLst/>
          </a:prstGeom>
          <a:solidFill>
            <a:srgbClr val="B83B3B"/>
          </a:solidFill>
          <a:ln w="12700">
            <a:solidFill>
              <a:srgbClr val="B83B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868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8961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3B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생각해 보기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는 v42 를 처리하다가 죽었습니다. 다시 켜면 v42 는 또 올까요?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7498080" cy="1417320"/>
          </a:xfrm>
          <a:prstGeom prst="roundRect">
            <a:avLst>
              <a:gd name="adj" fmla="val 387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880360"/>
            <a:ext cx="7132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그룹  last-delivered-id   읽은 수  밀린 수  ACK 대기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     1789899575596-2          3        1         </a:t>
            </a:r>
            <a:pPr indent="0" marL="0">
              <a:buNone/>
            </a:pPr>
            <a:r>
              <a:rPr lang="en-US" sz="1400" b="1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321040" y="2880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위치는 이미 v43 뒤에 있다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321040" y="32461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'&gt;' 로 읽으면 v44 부터 온다.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그렇다면 v42 는…?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394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온다 / 안 온다 — 손 들어 보기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24712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  ·  step4_pending.py (앞부분)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XPENDING — '받아 갔다'와 '끝냈다'는 다르다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7315200" cy="3657600"/>
          </a:xfrm>
          <a:prstGeom prst="roundRect">
            <a:avLst>
              <a:gd name="adj" fmla="val 15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54480"/>
            <a:ext cx="6949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redis&gt;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XPENDING views A - + 10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…596-0   v41   받아 간 소비자=c1   전달 횟수=1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…596-1   v42   받아 간 소비자=c1   전달 횟수=1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…596-2   v43   받아 간 소비자=c1   전달 횟수=1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redis&gt;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XACK views A 1789899575596-0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redis&gt;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XPENDING views A - + 10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…596-1   v42   받아 간 소비자=c1   전달 횟수=1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…596-2   v43   받아 간 소비자=c1   전달 횟수=1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046720" y="1417320"/>
            <a:ext cx="3657600" cy="1143000"/>
          </a:xfrm>
          <a:prstGeom prst="roundRect">
            <a:avLst>
              <a:gd name="adj" fmla="val 4800"/>
            </a:avLst>
          </a:prstGeom>
          <a:solidFill>
            <a:srgbClr val="F1F4F9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0" y="152704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XPENDING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1892808"/>
            <a:ext cx="3291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받아 갔지만 "끝났다"는 보고가 없는 것들의 목록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0" y="2697480"/>
            <a:ext cx="3657600" cy="1143000"/>
          </a:xfrm>
          <a:prstGeom prst="roundRect">
            <a:avLst>
              <a:gd name="adj" fmla="val 4800"/>
            </a:avLst>
          </a:prstGeom>
          <a:solidFill>
            <a:srgbClr val="F1F4F9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0" y="280720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XACK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3172968"/>
            <a:ext cx="3291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처리가 끝난 '후'에 하는 보고 = my_consumer.py 의 TODO ④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0" y="3977640"/>
            <a:ext cx="3657600" cy="1097280"/>
          </a:xfrm>
          <a:prstGeom prst="roundRect">
            <a:avLst>
              <a:gd name="adj" fmla="val 5000"/>
            </a:avLst>
          </a:prstGeom>
          <a:solidFill>
            <a:srgbClr val="F6DEDE"/>
          </a:solidFill>
          <a:ln w="12700">
            <a:solidFill>
              <a:srgbClr val="E8C4C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0" y="408736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3B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 보이는 것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4453128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만든 코드에는 이 '읽는 중' 상태가 어디에도 적혀 있지 않았다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5212080"/>
            <a:ext cx="11247120" cy="566928"/>
          </a:xfrm>
          <a:prstGeom prst="roundRect">
            <a:avLst>
              <a:gd name="adj" fmla="val 9677"/>
            </a:avLst>
          </a:prstGeom>
          <a:solidFill>
            <a:srgbClr val="E6EAF3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532180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3단계에서 A 는 세 건을 '받아 갔을' 뿐, 처리를 끝냈다고 말한 적이 없다 — 그래서 세 건이 그대로 남아 있었다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위치 파일 하나로는 '어디까지 받았나'만 적을 수 있었습니다. 제품은 '그중 무엇을 아직 못 끝냈나'까지 적어 둡니다.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  ·  step4_pending.py (뒷부분)  ·  본 강의 슬라이드 41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죽었다 다시 켜면 또 온다(중복) — NOACK 이면 안 온다(유실)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532120" cy="4343400"/>
          </a:xfrm>
          <a:prstGeom prst="roundRect">
            <a:avLst>
              <a:gd name="adj" fmla="val 1263"/>
            </a:avLst>
          </a:prstGeom>
          <a:solidFill>
            <a:srgbClr val="FBF0DC"/>
          </a:solidFill>
          <a:ln w="12700">
            <a:solidFill>
              <a:srgbClr val="EBD9B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0876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6B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'후'에 보고 (기본)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5166360" cy="2103120"/>
          </a:xfrm>
          <a:prstGeom prst="roundRect">
            <a:avLst>
              <a:gd name="adj" fmla="val 260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057400"/>
            <a:ext cx="4800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다시 켰다 — '&gt;' 가 아니라 '0' 으로 읽는다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redis&gt;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XREADGROUP GROUP A c1 STREAMS views 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…596-1   name=v42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…596-2   name=v43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redis&gt;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XPENDING views A - + 10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…596-1   v42   …   전달 횟수=2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…596-2   v43   …   전달 횟수=2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251960"/>
            <a:ext cx="5166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A54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잃어버리지 않는다. 대신 죽기 전에 이미 처리했다면 두 번 처리된다 → 중복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72200" y="1417320"/>
            <a:ext cx="5532120" cy="4343400"/>
          </a:xfrm>
          <a:prstGeom prst="roundRect">
            <a:avLst>
              <a:gd name="adj" fmla="val 1263"/>
            </a:avLst>
          </a:prstGeom>
          <a:solidFill>
            <a:srgbClr val="F6DEDE"/>
          </a:solidFill>
          <a:ln w="12700">
            <a:solidFill>
              <a:srgbClr val="E8C4C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150876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3B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받는 순간 끝난 것으로 (NOACK)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55080" y="1920240"/>
            <a:ext cx="5166360" cy="2103120"/>
          </a:xfrm>
          <a:prstGeom prst="roundRect">
            <a:avLst>
              <a:gd name="adj" fmla="val 260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37960" y="2057400"/>
            <a:ext cx="4800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redis&gt;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XADD views * name v45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redis&gt;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XREADGROUP GROUP A c1 NOACK STREAMS views 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…785-0   name=v44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…892-0   name=v45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redis&gt;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XPENDING views A - + 10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(없음)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4251960"/>
            <a:ext cx="5166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E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 목록에 오르지 않는다. 처리하다 죽으면 '0' 에도 '&gt;' 에도 안 나온다 → 유실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전달 횟수 2 이상은 '전에도 받아 간 적이 있다'는 신호 — 그래서 실습 코드는 sequential_id 로 한 번만 셌습니다.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5단계  ·  step5_upbit_producer.py  ·  본 강의 슬라이드 33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생산자 — upbit_producer.py 에서 바뀐 것은 한 줄이다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 · student/upbit_producer.py — 파일에 한 줄 덧붙이기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532120" cy="1417320"/>
          </a:xfrm>
          <a:prstGeom prst="roundRect">
            <a:avLst>
              <a:gd name="adj" fmla="val 387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828800"/>
            <a:ext cx="5166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loads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recv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dumps</a:t>
            </a:r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ensure_ascii</a:t>
            </a:r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5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5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25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\n</a:t>
            </a:r>
            <a:pPr indent="0" marL="0">
              <a:buNone/>
            </a:pPr>
            <a:r>
              <a:rPr lang="en-US" sz="125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flush</a:t>
            </a:r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172200" y="13716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 · step5 — Redis 장부에 한 건 덧붙이기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532120" cy="1417320"/>
          </a:xfrm>
          <a:prstGeom prst="roundRect">
            <a:avLst>
              <a:gd name="adj" fmla="val 387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55080" y="1828800"/>
            <a:ext cx="5166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loads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recv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entry_id</a:t>
            </a:r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xadd</a:t>
            </a:r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</a:t>
            </a:r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5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FIELDS</a:t>
            </a:r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</a:t>
            </a:r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maxlen</a:t>
            </a:r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MAXLEN</a:t>
            </a:r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approximate</a:t>
            </a:r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5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337560"/>
            <a:ext cx="7315200" cy="182880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474720"/>
            <a:ext cx="6949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터미널 2 — 켜 두기 (끄려면 Ctrl+C)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step5_upbit_producer.py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연결됨: ['KRW-BTC', 'KRW-ETH', 'KRW-XRP', 'KRW-SOL', 'KRW-DOGE']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→ Redis 장부 'upbit-trades'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50건 기록 · 장부 50건 · 마지막 위치 1789899822456-0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100건 기록 · 장부 100건 · 마지막 위치 1789899840755-0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3337560"/>
            <a:ext cx="3657600" cy="1828800"/>
          </a:xfrm>
          <a:prstGeom prst="roundRect">
            <a:avLst>
              <a:gd name="adj" fmla="val 3000"/>
            </a:avLst>
          </a:prstGeom>
          <a:solidFill>
            <a:srgbClr val="F1F4F9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0" y="34472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maxlen = 장부의 한도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3813048"/>
            <a:ext cx="32918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오래된 것부터 버린다. Kafka 에서는 retention. 파일 장부에는 없던 것 — 파일은 계속 자라기만 했다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5303520"/>
            <a:ext cx="11247120" cy="502920"/>
          </a:xfrm>
          <a:prstGeom prst="roundRect">
            <a:avLst>
              <a:gd name="adj" fmla="val 10909"/>
            </a:avLst>
          </a:prstGeom>
          <a:solidFill>
            <a:srgbClr val="E6EAF3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541324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시연: 두 파일을 에디터에 나란히 띄워 바뀐 줄을 먼저 보여 주고 나서 실행한다. 웹소켓을 받는 쪽은 한 글자도 다르지 않다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생산자에게 중개자는 '덧붙이는 곳'일 뿐입니다 — 파일이든 Redis 든 Kafka 든 생산자 코드는 그 한 줄만 다릅니다.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6단계  ·  step6_upbit_consumer.py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소비자 — my_consumer.py 의 네 줄이 Redis 명령 네 개가 된다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9144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466344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my_consumer.py (직접 만든 것)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step6_upbit_consumer.py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지난번 위치 읽기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 = int(POS_FILE.read_text())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A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없다 — 그룹 이름으로 Redis 가 기억한다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정해진 만큼만 읽기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f.seek(pos) … MAX_BYTES 에서 break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r.xreadgroup(GROUP, CONSUMER, {STREAM: "&gt;"}, count=100, block=2000)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후 위치 기록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POS_FILE.write_text(str(pos))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r.xack(STREAM, GROUP, *ids)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밀린 양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size - pos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r.xinfo_groups(STREAM) → g["lag"]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83B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(새로 생긴 일)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83B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시작할 때 {STREAM: "0"} 으로 내 ACK 대기분부터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617720"/>
            <a:ext cx="11247120" cy="1188720"/>
          </a:xfrm>
          <a:prstGeom prst="roundRect">
            <a:avLst>
              <a:gd name="adj" fmla="val 461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47548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step6_upbit_consumer.py 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그룹 A 을 새로 만들었다 — 장부의 처음부터 읽는다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[새 것 ]  25건 · 밀린 수 0 · ACK 대기 0 · BTC 4건/0.4백만  DOGE 2건/2.0백만  ETH 17건/8.2백만  XRP 2건/0.8백만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[새 것 ]   1건 · 밀린 수 0 · ACK 대기 0 · BTC 1건/0.5백만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위치 파일을 읽고 쓰던 두 줄이 사라지고, 그 자리에 '누구의 위치인가'를 말하는 그룹 이름이 들어왔습니다.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6단계  ·  시연 시나리오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번 실행하고, 매번 화면의 한 곳만 짚는다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91440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4343400"/>
                <a:gridCol w="4983480"/>
                <a:gridCol w="1463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화면에서 짚을 곳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 강의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… consumer.py A   → Ctrl+C → 다시 실행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"그룹 A 은 이미 있다 — Redis 가 기억하는 위치부터". 위치 파일이 어디에도 없다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… consumer.py B          (터미널 4)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"새로 만들었다 — 처음부터". 옆의 A 화면은 변하지 않는다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… consumer.py A c1 --crash  → 다시 A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[재처리] 가 먼저 나온다. 건수·금액이 죽기 직전 출력과 같다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… consumer.py A c1 --slow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밀린 수가 실행할수록 커진다: 5 → 9 → 12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… consumer.py A c2          (터미널 4)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c1 화면의 밀린 수가 줄기 시작한다 — 나눠 받는다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251960"/>
            <a:ext cx="11247120" cy="1554480"/>
          </a:xfrm>
          <a:prstGeom prst="roundRect">
            <a:avLst>
              <a:gd name="adj" fmla="val 352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438912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③ 죽기 직전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[새 것 ] 4건 처리함: ETH 2건/0.6백만  XRP 2건/0.0백만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③ 다시 켠 직후 — 같은 4건이 또 온다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[재처리]   4건 · 밀린 수 34 · ACK 대기 0 · ETH 2건/0.6백만  XRP 2건/0.0백만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④ --slow — 실행할수록 밀린다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[새 것 ] 1건 · 밀린 수 5 …    [새 것 ] 5건 · 밀린 수 9 …    [새 것 ] 5건 · 밀린 수 12 …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시간이 모자라면 ①②③ 만 하세요. ④⑤ 는 본 강의 슬라이드 37 '기울기 = 생산 - 소비'의 재확인입니다.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6단계 ⑤ 에서 본 것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그룹에 붙이면 나눠 받고, 다른 그룹이면 각자 받는다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532120" cy="3291840"/>
          </a:xfrm>
          <a:prstGeom prst="roundRect">
            <a:avLst>
              <a:gd name="adj" fmla="val 1667"/>
            </a:avLst>
          </a:prstGeom>
          <a:solidFill>
            <a:srgbClr val="FBF3F3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0876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3B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그룹 A 에 c1 · c2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148840"/>
            <a:ext cx="512064" cy="45720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14884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m1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298448" y="2148840"/>
            <a:ext cx="512064" cy="45720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98448" y="214884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m2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865376" y="2148840"/>
            <a:ext cx="512064" cy="45720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865376" y="214884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m3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432304" y="2148840"/>
            <a:ext cx="512064" cy="45720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432304" y="214884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m4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2651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 flipV="1">
            <a:off x="3108960" y="2295144"/>
            <a:ext cx="502920" cy="82296"/>
          </a:xfrm>
          <a:prstGeom prst="line">
            <a:avLst/>
          </a:prstGeom>
          <a:noFill/>
          <a:ln w="19050">
            <a:solidFill>
              <a:srgbClr val="9AA3B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657600" y="2011680"/>
            <a:ext cx="2103120" cy="566928"/>
          </a:xfrm>
          <a:prstGeom prst="roundRect">
            <a:avLst>
              <a:gd name="adj" fmla="val 8065"/>
            </a:avLst>
          </a:prstGeom>
          <a:solidFill>
            <a:srgbClr val="B83B3B"/>
          </a:solidFill>
          <a:ln w="12700">
            <a:solidFill>
              <a:srgbClr val="B83B3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657600" y="201168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A · c1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3657600" y="257860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m1  m3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08960" y="2377440"/>
            <a:ext cx="502920" cy="786384"/>
          </a:xfrm>
          <a:prstGeom prst="line">
            <a:avLst/>
          </a:prstGeom>
          <a:noFill/>
          <a:ln w="19050">
            <a:solidFill>
              <a:srgbClr val="9AA3B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657600" y="2880360"/>
            <a:ext cx="2103120" cy="566928"/>
          </a:xfrm>
          <a:prstGeom prst="roundRect">
            <a:avLst>
              <a:gd name="adj" fmla="val 8065"/>
            </a:avLst>
          </a:prstGeom>
          <a:solidFill>
            <a:srgbClr val="B83B3B"/>
          </a:solidFill>
          <a:ln w="12700">
            <a:solidFill>
              <a:srgbClr val="B83B3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57600" y="288036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A · c2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3657600" y="344728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m2  m4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1417320"/>
            <a:ext cx="5532120" cy="3291840"/>
          </a:xfrm>
          <a:prstGeom prst="roundRect">
            <a:avLst>
              <a:gd name="adj" fmla="val 1667"/>
            </a:avLst>
          </a:prstGeom>
          <a:solidFill>
            <a:srgbClr val="F1F8F4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0" y="150876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그룹 A 와 B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46520" y="2148840"/>
            <a:ext cx="512064" cy="45720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46520" y="214884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m1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013448" y="2148840"/>
            <a:ext cx="512064" cy="45720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013448" y="214884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m2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580376" y="2148840"/>
            <a:ext cx="512064" cy="45720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580376" y="214884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m3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147304" y="2148840"/>
            <a:ext cx="512064" cy="45720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147304" y="214884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m4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6446520" y="2651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장부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 flipV="1">
            <a:off x="8823960" y="2295144"/>
            <a:ext cx="502920" cy="82296"/>
          </a:xfrm>
          <a:prstGeom prst="line">
            <a:avLst/>
          </a:prstGeom>
          <a:noFill/>
          <a:ln w="19050">
            <a:solidFill>
              <a:srgbClr val="9AA3B2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372600" y="2011680"/>
            <a:ext cx="2103120" cy="566928"/>
          </a:xfrm>
          <a:prstGeom prst="roundRect">
            <a:avLst>
              <a:gd name="adj" fmla="val 8065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372600" y="201168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A · c1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9372600" y="257860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m1 m2 m3 m4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823960" y="2377440"/>
            <a:ext cx="502920" cy="786384"/>
          </a:xfrm>
          <a:prstGeom prst="line">
            <a:avLst/>
          </a:prstGeom>
          <a:noFill/>
          <a:ln w="19050">
            <a:solidFill>
              <a:srgbClr val="9AA3B2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9372600" y="2880360"/>
            <a:ext cx="2103120" cy="566928"/>
          </a:xfrm>
          <a:prstGeom prst="roundRect">
            <a:avLst>
              <a:gd name="adj" fmla="val 8065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372600" y="288036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B · c1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9372600" y="344728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m1 m2 m3 m4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685800" y="41605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E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가지 일을 빨리 끝내려고 — 처리량 ↑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6400800" y="41605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일을 하려고 — 집계도 하고, 저장도 하고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457200" y="4892040"/>
            <a:ext cx="11247120" cy="868680"/>
          </a:xfrm>
          <a:prstGeom prst="roundRect">
            <a:avLst>
              <a:gd name="adj" fmla="val 6316"/>
            </a:avLst>
          </a:prstGeom>
          <a:solidFill>
            <a:srgbClr val="E6EAF3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40080" y="500176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XREADGROUP GROUP A c1 … 의 c1 이 이제 뜻을 갖는다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640080" y="5367528"/>
            <a:ext cx="10881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이름은 '누구의 위치인가', 소비자 이름은 '그 그룹 안에서 누가 받아 갔나'. XPENDING 에 '받아 간 소비자=c1' 이 적혀 있던 이유</a:t>
            </a:r>
            <a:endParaRPr lang="en-US" sz="1250" dirty="0"/>
          </a:p>
        </p:txBody>
      </p:sp>
      <p:sp>
        <p:nvSpPr>
          <p:cNvPr id="48" name="Text 46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본 강의 슬라이드 34 의 파티션은 이 '나눠 받기'를 순서를 지키며 하려는 장치입니다 — 6~7주차 Kafka 에서.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  ·  본 강의 슬라이드 43 의 표에 한 열 추가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부품, 세 가지 이름 — 직접 만든 것 · Redis Streams · Kafka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91440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840480"/>
                <a:gridCol w="3749040"/>
              </a:tblGrid>
              <a:tr h="4160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 직접 만든 것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Redis Streams (방금 본 것)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Kafka (6~7주차)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raw/upbit_trades.jsonl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stream  upbit-trades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토픽 topic · 파티션 partition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자리 번호 · 바이트 위치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entry ID  1789…-0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오프셋 offset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f.write(…) · log.append(msg)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XADD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produce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state/upbit_pos_A.txt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그룹의 last-delivered-id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committed offset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 A · 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consumer group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consumer group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'후' 위치 기록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XACK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commit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83B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(없었다)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83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XPENDING — ACK 대기 목록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(없다 — 커밋 안 된 구간이 같은 역할)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밀린 양 = 장부 크기 - 위치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XINFO GROUPS → lag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consumer lag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(없었다 — 파일은 계속 자란다)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MAXLEN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retention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가장 큰 차이: Redis 는 메시지마다 ACK, Kafka 는 위치 하나만 커밋 — 우리가 만든 state/*.txt 방식은 Kafka 쪽입니다.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방법 ④  ·  끝내기와 문제 해결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끝나면 step9 와 Ctrl+C — 막히면 이 표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960120"/>
          </a:xfrm>
          <a:prstGeom prst="roundRect">
            <a:avLst>
              <a:gd name="adj" fmla="val 5714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0876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step9_cleanup.py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장부 views · upbit-trades 삭제 — 그룹·위치·ACK 대기 목록도 장부와 함께 사라진다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터미널 2·3·4 는 Ctrl+C, 마지막에 터미널 1(서버) Ctrl+C → 메모리 전용이라 디스크에 남는 것이 없다</a:t>
            </a:r>
            <a:endParaRPr lang="en-US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60320"/>
          <a:ext cx="914400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3291840"/>
                <a:gridCol w="42062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증상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할 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"Redis 서버가 꺼져 있음" 이라고 나오고 끝난다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step0 을 안 켰다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터미널 1:  sh step0_server.sh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step0 에서 Address already in use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이전 시연의 서버가 남아 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redis-cli -p 6390 shutdown nosave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"장부 views 가 없음" · "그룹 A 가 없음"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단계를 건너뛰었다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step1 → step3 → step4 순서로 다시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--crash 로 켰는데 죽지 않고 기다리기만 한다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 메시지가 없다 — 생산자가 꺼져 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터미널 2 의 step5 가 돌고 있는지 확인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--slow 인데 밀린 수가 안 는다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장이 아주 한산하다 (초당 1건 미만)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종목을 늘린다: step5 … KRW-BTC KRW-ETH KRW-XRP KRW-SOL KRW-DOGE KRW-ADA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5·6단계에서 연결 끊김이 반복된다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강의실 네트워크가 웹소켓을 막는다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1~4단계만 시연 (네트워크가 필요 없다)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1~4단계는 네트워크 없이도 돌아갑니다 — 최악의 경우에도 부품 네 개는 보여 줄 수 있습니다.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Redis Streams 시연 — Week 4 보조 자료</dc:title>
  <dc:subject>PptxGenJS Presentation</dc:subject>
  <dc:creator>PptxGenJS</dc:creator>
  <cp:lastModifiedBy>PptxGenJS</cp:lastModifiedBy>
  <cp:revision>1</cp:revision>
  <dcterms:created xsi:type="dcterms:W3CDTF">2026-09-20T10:42:07Z</dcterms:created>
  <dcterms:modified xsi:type="dcterms:W3CDTF">2026-09-20T10:42:07Z</dcterms:modified>
</cp:coreProperties>
</file>